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320" r:id="rId5"/>
    <p:sldId id="321" r:id="rId6"/>
    <p:sldId id="284" r:id="rId7"/>
    <p:sldId id="285" r:id="rId8"/>
    <p:sldId id="281" r:id="rId9"/>
    <p:sldId id="280"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 id="277" r:id="rId44"/>
  </p:sldIdLst>
  <p:sldSz cx="12192000" cy="6858000"/>
  <p:notesSz cx="6858000" cy="9144000"/>
  <p:embeddedFontLst>
    <p:embeddedFont>
      <p:font typeface="Calibri" panose="020F0502020204030204"/>
      <p:regular r:id="rId48"/>
      <p:bold r:id="rId49"/>
      <p:italic r:id="rId50"/>
      <p:boldItalic r:id="rId51"/>
    </p:embeddedFont>
    <p:embeddedFont>
      <p:font typeface="Arial Black" panose="020B0A04020102020204" charset="0"/>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4660"/>
  </p:normalViewPr>
  <p:slideViewPr>
    <p:cSldViewPr snapToGrid="0">
      <p:cViewPr varScale="1">
        <p:scale>
          <a:sx n="81" d="100"/>
          <a:sy n="81" d="100"/>
        </p:scale>
        <p:origin x="74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font" Target="fonts/font5.fntdata"/><Relationship Id="rId51" Type="http://schemas.openxmlformats.org/officeDocument/2006/relationships/font" Target="fonts/font4.fntdata"/><Relationship Id="rId50" Type="http://schemas.openxmlformats.org/officeDocument/2006/relationships/font" Target="fonts/font3.fntdata"/><Relationship Id="rId5" Type="http://schemas.openxmlformats.org/officeDocument/2006/relationships/slide" Target="slides/slide2.xml"/><Relationship Id="rId49" Type="http://schemas.openxmlformats.org/officeDocument/2006/relationships/font" Target="fonts/font2.fntdata"/><Relationship Id="rId48" Type="http://schemas.openxmlformats.org/officeDocument/2006/relationships/font" Target="fonts/font1.fntdata"/><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4"/>
        <p:cNvGrpSpPr/>
        <p:nvPr/>
      </p:nvGrpSpPr>
      <p:grpSpPr>
        <a:xfrm>
          <a:off x="0" y="0"/>
          <a:ext cx="0" cy="0"/>
          <a:chOff x="0" y="0"/>
          <a:chExt cx="0" cy="0"/>
        </a:xfrm>
      </p:grpSpPr>
      <p:sp>
        <p:nvSpPr>
          <p:cNvPr id="285" name="Google Shape;285;g224e5d5c53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p>
        </p:txBody>
      </p:sp>
      <p:sp>
        <p:nvSpPr>
          <p:cNvPr id="286" name="Google Shape;286;g224e5d5c53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3"/>
        <p:cNvGrpSpPr/>
        <p:nvPr/>
      </p:nvGrpSpPr>
      <p:grpSpPr>
        <a:xfrm>
          <a:off x="0" y="0"/>
          <a:ext cx="0" cy="0"/>
          <a:chOff x="0" y="0"/>
          <a:chExt cx="0" cy="0"/>
        </a:xfrm>
      </p:grpSpPr>
      <p:sp>
        <p:nvSpPr>
          <p:cNvPr id="14" name="Google Shape;14;g224e5d5c537_0_12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 name="Google Shape;15;g224e5d5c537_0_12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6"/>
        <p:cNvGrpSpPr/>
        <p:nvPr/>
      </p:nvGrpSpPr>
      <p:grpSpPr>
        <a:xfrm>
          <a:off x="0" y="0"/>
          <a:ext cx="0" cy="0"/>
          <a:chOff x="0" y="0"/>
          <a:chExt cx="0" cy="0"/>
        </a:xfrm>
      </p:grpSpPr>
      <p:sp>
        <p:nvSpPr>
          <p:cNvPr id="17" name="Google Shape;17;g224e5d5c537_0_14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8"/>
        <p:cNvGrpSpPr/>
        <p:nvPr/>
      </p:nvGrpSpPr>
      <p:grpSpPr>
        <a:xfrm>
          <a:off x="0" y="0"/>
          <a:ext cx="0" cy="0"/>
          <a:chOff x="0" y="0"/>
          <a:chExt cx="0" cy="0"/>
        </a:xfrm>
      </p:grpSpPr>
      <p:sp>
        <p:nvSpPr>
          <p:cNvPr id="19" name="Google Shape;19;g224e5d5c537_0_107"/>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0" name="Google Shape;20;g224e5d5c537_0_107"/>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1" name="Google Shape;21;g224e5d5c537_0_10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2"/>
        <p:cNvGrpSpPr/>
        <p:nvPr/>
      </p:nvGrpSpPr>
      <p:grpSpPr>
        <a:xfrm>
          <a:off x="0" y="0"/>
          <a:ext cx="0" cy="0"/>
          <a:chOff x="0" y="0"/>
          <a:chExt cx="0" cy="0"/>
        </a:xfrm>
      </p:grpSpPr>
      <p:sp>
        <p:nvSpPr>
          <p:cNvPr id="23" name="Google Shape;23;g224e5d5c537_0_111"/>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g224e5d5c537_0_11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25"/>
        <p:cNvGrpSpPr/>
        <p:nvPr/>
      </p:nvGrpSpPr>
      <p:grpSpPr>
        <a:xfrm>
          <a:off x="0" y="0"/>
          <a:ext cx="0" cy="0"/>
          <a:chOff x="0" y="0"/>
          <a:chExt cx="0" cy="0"/>
        </a:xfrm>
      </p:grpSpPr>
      <p:sp>
        <p:nvSpPr>
          <p:cNvPr id="26" name="Google Shape;26;g224e5d5c537_0_11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7" name="Google Shape;27;g224e5d5c537_0_114"/>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p:txBody>
      </p:sp>
      <p:sp>
        <p:nvSpPr>
          <p:cNvPr id="28" name="Google Shape;28;g224e5d5c537_0_11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9"/>
        <p:cNvGrpSpPr/>
        <p:nvPr/>
      </p:nvGrpSpPr>
      <p:grpSpPr>
        <a:xfrm>
          <a:off x="0" y="0"/>
          <a:ext cx="0" cy="0"/>
          <a:chOff x="0" y="0"/>
          <a:chExt cx="0" cy="0"/>
        </a:xfrm>
      </p:grpSpPr>
      <p:sp>
        <p:nvSpPr>
          <p:cNvPr id="30" name="Google Shape;30;g224e5d5c537_0_11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1" name="Google Shape;31;g224e5d5c537_0_118"/>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p:txBody>
      </p:sp>
      <p:sp>
        <p:nvSpPr>
          <p:cNvPr id="32" name="Google Shape;32;g224e5d5c537_0_118"/>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p:txBody>
      </p:sp>
      <p:sp>
        <p:nvSpPr>
          <p:cNvPr id="33" name="Google Shape;33;g224e5d5c537_0_11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g224e5d5c537_0_126"/>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6" name="Google Shape;36;g224e5d5c537_0_126"/>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p:txBody>
      </p:sp>
      <p:sp>
        <p:nvSpPr>
          <p:cNvPr id="37" name="Google Shape;37;g224e5d5c537_0_12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g224e5d5c537_0_130"/>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40" name="Google Shape;40;g224e5d5c537_0_13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g224e5d5c537_0_13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g224e5d5c537_0_133"/>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4" name="Google Shape;44;g224e5d5c537_0_133"/>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5" name="Google Shape;45;g224e5d5c537_0_133"/>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p:txBody>
      </p:sp>
      <p:sp>
        <p:nvSpPr>
          <p:cNvPr id="46" name="Google Shape;46;g224e5d5c537_0_13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g224e5d5c537_0_139"/>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p:txBody>
      </p:sp>
      <p:sp>
        <p:nvSpPr>
          <p:cNvPr id="49" name="Google Shape;49;g224e5d5c537_0_13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g224e5d5c537_0_142"/>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2" name="Google Shape;52;g224e5d5c537_0_142"/>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p:txBody>
      </p:sp>
      <p:sp>
        <p:nvSpPr>
          <p:cNvPr id="53" name="Google Shape;53;g224e5d5c537_0_14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24e5d5c537_0_10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g224e5d5c537_0_103"/>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g224e5d5c537_0_10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pic>
        <p:nvPicPr>
          <p:cNvPr id="109" name="Google Shape;109;p1"/>
          <p:cNvPicPr preferRelativeResize="0"/>
          <p:nvPr/>
        </p:nvPicPr>
        <p:blipFill rotWithShape="1">
          <a:blip r:embed="rId1"/>
          <a:srcRect/>
          <a:stretch>
            <a:fillRect/>
          </a:stretch>
        </p:blipFill>
        <p:spPr>
          <a:xfrm>
            <a:off x="1727200" y="3510614"/>
            <a:ext cx="9618135" cy="2862411"/>
          </a:xfrm>
          <a:prstGeom prst="rect">
            <a:avLst/>
          </a:prstGeom>
          <a:noFill/>
          <a:ln>
            <a:noFill/>
          </a:ln>
        </p:spPr>
      </p:pic>
      <p:sp>
        <p:nvSpPr>
          <p:cNvPr id="110" name="Google Shape;110;p1"/>
          <p:cNvSpPr/>
          <p:nvPr/>
        </p:nvSpPr>
        <p:spPr>
          <a:xfrm>
            <a:off x="1326726" y="0"/>
            <a:ext cx="9736" cy="6858000"/>
          </a:xfrm>
          <a:custGeom>
            <a:avLst/>
            <a:gdLst/>
            <a:ahLst/>
            <a:cxnLst/>
            <a:rect l="l" t="t" r="r" b="b"/>
            <a:pathLst>
              <a:path w="14605" h="10287000" extrusionOk="0">
                <a:moveTo>
                  <a:pt x="14605" y="0"/>
                </a:moveTo>
                <a:lnTo>
                  <a:pt x="0" y="0"/>
                </a:lnTo>
                <a:lnTo>
                  <a:pt x="0" y="10286997"/>
                </a:lnTo>
                <a:lnTo>
                  <a:pt x="14605" y="10286997"/>
                </a:lnTo>
                <a:lnTo>
                  <a:pt x="1460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112" name="Google Shape;112;p1"/>
          <p:cNvGrpSpPr/>
          <p:nvPr/>
        </p:nvGrpSpPr>
        <p:grpSpPr>
          <a:xfrm>
            <a:off x="7638078" y="1777"/>
            <a:ext cx="4535989" cy="1344489"/>
            <a:chOff x="11456543" y="2666"/>
            <a:chExt cx="6803643" cy="2016632"/>
          </a:xfrm>
        </p:grpSpPr>
        <p:pic>
          <p:nvPicPr>
            <p:cNvPr id="113" name="Google Shape;113;p1"/>
            <p:cNvPicPr preferRelativeResize="0"/>
            <p:nvPr/>
          </p:nvPicPr>
          <p:blipFill rotWithShape="1">
            <a:blip r:embed="rId2"/>
            <a:srcRect/>
            <a:stretch>
              <a:fillRect/>
            </a:stretch>
          </p:blipFill>
          <p:spPr>
            <a:xfrm>
              <a:off x="11456543" y="343280"/>
              <a:ext cx="3097656" cy="1447419"/>
            </a:xfrm>
            <a:prstGeom prst="rect">
              <a:avLst/>
            </a:prstGeom>
            <a:noFill/>
            <a:ln>
              <a:noFill/>
            </a:ln>
          </p:spPr>
        </p:pic>
        <p:pic>
          <p:nvPicPr>
            <p:cNvPr id="114" name="Google Shape;114;p1"/>
            <p:cNvPicPr preferRelativeResize="0"/>
            <p:nvPr/>
          </p:nvPicPr>
          <p:blipFill rotWithShape="1">
            <a:blip r:embed="rId3"/>
            <a:srcRect/>
            <a:stretch>
              <a:fillRect/>
            </a:stretch>
          </p:blipFill>
          <p:spPr>
            <a:xfrm>
              <a:off x="14249400" y="2666"/>
              <a:ext cx="4010786" cy="2016632"/>
            </a:xfrm>
            <a:prstGeom prst="rect">
              <a:avLst/>
            </a:prstGeom>
            <a:noFill/>
            <a:ln>
              <a:noFill/>
            </a:ln>
          </p:spPr>
        </p:pic>
      </p:grpSp>
      <p:sp>
        <p:nvSpPr>
          <p:cNvPr id="2" name="Title 1"/>
          <p:cNvSpPr>
            <a:spLocks noGrp="1"/>
          </p:cNvSpPr>
          <p:nvPr>
            <p:ph type="title"/>
          </p:nvPr>
        </p:nvSpPr>
        <p:spPr>
          <a:xfrm>
            <a:off x="415290" y="593090"/>
            <a:ext cx="11360785" cy="2210435"/>
          </a:xfrm>
        </p:spPr>
        <p:txBody>
          <a:bodyPr>
            <a:normAutofit fontScale="90000"/>
          </a:bodyPr>
          <a:lstStyle/>
          <a:p>
            <a:r>
              <a:rPr lang="en-GB" altLang="en-US" sz="5335" dirty="0">
                <a:latin typeface="Arial Black" panose="020B0A04020102020204" charset="0"/>
                <a:cs typeface="Arial Black" panose="020B0A04020102020204" charset="0"/>
              </a:rPr>
              <a:t>            </a:t>
            </a:r>
            <a:br>
              <a:rPr lang="en-GB" altLang="en-US" sz="5335" dirty="0">
                <a:latin typeface="Arial Black" panose="020B0A04020102020204" charset="0"/>
                <a:cs typeface="Arial Black" panose="020B0A04020102020204" charset="0"/>
              </a:rPr>
            </a:br>
            <a:r>
              <a:rPr lang="en-GB" altLang="en-US" sz="5335" dirty="0">
                <a:latin typeface="Arial Black" panose="020B0A04020102020204" charset="0"/>
                <a:cs typeface="Arial Black" panose="020B0A04020102020204" charset="0"/>
              </a:rPr>
              <a:t>          </a:t>
            </a:r>
            <a:r>
              <a:rPr lang="en-GB" sz="40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PRONOUN ANTECEDENT AGREEMENT</a:t>
            </a:r>
            <a:br>
              <a:rPr lang="en-GB" sz="5400" b="1" i="0" u="none" strike="noStrike" cap="none" dirty="0">
                <a:solidFill>
                  <a:srgbClr val="000000"/>
                </a:solidFill>
                <a:latin typeface="Arial" panose="020B0604020202020204"/>
                <a:ea typeface="Arial" panose="020B0604020202020204"/>
                <a:cs typeface="Arial" panose="020B0604020202020204"/>
                <a:sym typeface="Arial" panose="020B0604020202020204"/>
              </a:rPr>
            </a:br>
            <a:endParaRPr lang="en-GB" altLang="en-US" sz="5335" dirty="0">
              <a:latin typeface="Arial Black" panose="020B0A04020102020204" charset="0"/>
              <a:cs typeface="Arial Black" panose="020B0A040201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290" y="593090"/>
            <a:ext cx="11360785" cy="5373370"/>
          </a:xfrm>
        </p:spPr>
        <p:txBody>
          <a:bodyPr>
            <a:normAutofit/>
          </a:bodyPr>
          <a:lstStyle/>
          <a:p>
            <a:pPr marL="0" marR="0" lvl="0" indent="0" rtl="0">
              <a:lnSpc>
                <a:spcPct val="100000"/>
              </a:lnSpc>
              <a:spcBef>
                <a:spcPts val="0"/>
              </a:spcBef>
              <a:spcAft>
                <a:spcPts val="0"/>
              </a:spcAft>
            </a:pPr>
            <a:br>
              <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br>
              <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br>
              <a:rPr lang="en-US" sz="32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r>
              <a:rPr lang="en-GB" altLang="en-US" sz="32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---&gt; </a:t>
            </a:r>
            <a:r>
              <a:rPr lang="en-US" sz="32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My wife and me went to the shopping mall.</a:t>
            </a:r>
            <a:br>
              <a:rPr lang="en-US" sz="32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r>
              <a:rPr lang="en-GB" altLang="en-US" sz="32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---&gt; </a:t>
            </a:r>
            <a:r>
              <a:rPr lang="en-US" sz="32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That gift was bought by my wife and I.</a:t>
            </a:r>
            <a:br>
              <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rPr>
              <a:t>.</a:t>
            </a:r>
            <a:br>
              <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br>
              <a:rPr lang="en-US" sz="2000" b="1" i="0" u="none" strike="noStrike" cap="none" dirty="0">
                <a:solidFill>
                  <a:srgbClr val="000000"/>
                </a:solidFill>
                <a:latin typeface="Arial" panose="020B0604020202020204"/>
                <a:ea typeface="Arial" panose="020B0604020202020204"/>
                <a:cs typeface="Arial" panose="020B0604020202020204"/>
                <a:sym typeface="Arial" panose="020B0604020202020204"/>
              </a:rPr>
            </a:br>
            <a:endParaRPr lang="en-GB" alt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479155" y="1543685"/>
            <a:ext cx="3296920" cy="41376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290" y="593090"/>
            <a:ext cx="11360785" cy="5373370"/>
          </a:xfrm>
        </p:spPr>
        <p:txBody>
          <a:bodyPr>
            <a:normAutofit/>
          </a:bodyPr>
          <a:lstStyle/>
          <a:p>
            <a:pPr marL="0" marR="0" lvl="0" indent="0" algn="ctr" rtl="0">
              <a:lnSpc>
                <a:spcPct val="100000"/>
              </a:lnSpc>
              <a:spcBef>
                <a:spcPts val="0"/>
              </a:spcBef>
              <a:spcAft>
                <a:spcPts val="0"/>
              </a:spcAft>
            </a:pPr>
            <a:b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b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b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My wife and me went to the shopping mall.</a:t>
            </a:r>
            <a:br>
              <a:rPr lang="en-US" sz="28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My wife and </a:t>
            </a:r>
            <a:r>
              <a:rPr lang="en-US" sz="28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a:t>
            </a:r>
            <a: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 went to the shopping mall.</a:t>
            </a:r>
            <a:br>
              <a:rPr lang="en-US" sz="28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br>
              <a:rPr lang="en-US" sz="28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b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That gift was bought by my wife and I.</a:t>
            </a:r>
            <a:b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That gift was bought by my wife and </a:t>
            </a:r>
            <a:r>
              <a:rPr lang="en-US" sz="28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me</a:t>
            </a:r>
            <a: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a:t>
            </a:r>
            <a:br>
              <a:rPr lang="en-US" sz="2800" b="0"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br>
              <a:rPr lang="en-US" sz="28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br>
            <a:endParaRPr lang="en-GB"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593367"/>
            <a:ext cx="11360700" cy="5090996"/>
          </a:xfrm>
        </p:spPr>
        <p:txBody>
          <a:bodyPr>
            <a:normAutofit fontScale="90000"/>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altLang="en-US" dirty="0">
                <a:latin typeface="Times New Roman" panose="02020603050405020304" pitchFamily="18" charset="0"/>
                <a:cs typeface="Times New Roman" panose="02020603050405020304" pitchFamily="18" charset="0"/>
              </a:rPr>
              <a:t>Concept</a:t>
            </a:r>
            <a:br>
              <a:rPr lang="en-GB" altLang="en-US" dirty="0">
                <a:latin typeface="Times New Roman" panose="02020603050405020304" pitchFamily="18" charset="0"/>
                <a:cs typeface="Times New Roman" panose="02020603050405020304" pitchFamily="18" charset="0"/>
              </a:rPr>
            </a:br>
            <a:br>
              <a:rPr lang="en-GB" altLang="en-US" dirty="0">
                <a:latin typeface="Times New Roman" panose="02020603050405020304" pitchFamily="18" charset="0"/>
                <a:cs typeface="Times New Roman" panose="02020603050405020304" pitchFamily="18" charset="0"/>
              </a:rPr>
            </a:b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What is a pronoun?</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 pronoun is a word that replaces a noun.</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What is an Antecedent? </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An antecedent is a noun which the pronoun refers to or a corresponding noun to the pronoun.</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Diwas threw his iPad on the floor. </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his</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t>
            </a:r>
            <a:r>
              <a:rPr lang="en-GB" alt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(pronoun)</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refers to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Diwas</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t>
            </a:r>
            <a:r>
              <a:rPr lang="en-GB" alt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(Antecedent)</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endParaRPr lang="en-GB" altLang="en-US" sz="2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31875" y="386080"/>
            <a:ext cx="10669270" cy="5918835"/>
          </a:xfrm>
          <a:prstGeom prst="rect">
            <a:avLst/>
          </a:prstGeom>
          <a:noFill/>
        </p:spPr>
        <p:txBody>
          <a:bodyPr wrap="square" rtlCol="0">
            <a:noAutofit/>
          </a:bodyPr>
          <a:lstStyle/>
          <a:p>
            <a:endParaRPr lang="en-GB" sz="3600" b="1" i="0" u="none" strike="noStrike" cap="none"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What is Pronoun Antecedent Agreement?</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A pronoun must agree with its antecedent in number and gender.</a:t>
            </a:r>
            <a:endPar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r>
              <a:rPr lang="en-US" sz="2400" b="1" i="0" u="sng"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Number</a:t>
            </a: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is the quality that distinguishes between singular (one entity) and plural (numerous entities).</a:t>
            </a:r>
            <a:endPar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r>
              <a:rPr lang="en-US" sz="2400" b="1" i="0" u="sng"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Gender</a:t>
            </a: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is the quality that distinguishes the entities as masculine or feminine.</a:t>
            </a:r>
            <a:endPar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chemeClr val="dk1"/>
              </a:buClr>
              <a:buSzPts val="1400"/>
              <a:buFont typeface="Arial" panose="020B0604020202020204"/>
              <a:buNone/>
            </a:pPr>
            <a:b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Harvey</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invited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Rachel</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to attend the birthday party.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He</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invited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her</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to be the lady of ceremony of the party.</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sz="2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endParaRPr lang="en-GB" alt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31875" y="386080"/>
            <a:ext cx="10669270" cy="5918835"/>
          </a:xfrm>
          <a:prstGeom prst="rect">
            <a:avLst/>
          </a:prstGeom>
          <a:noFill/>
        </p:spPr>
        <p:txBody>
          <a:bodyPr wrap="square" rtlCol="0">
            <a:noAutofit/>
          </a:bodyPr>
          <a:lstStyle/>
          <a:p>
            <a:endParaRPr lang="en-GB" sz="2800" dirty="0">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Pronouns have to agree with their Antecedent in Number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singular antecedent</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takes a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singular pronoun</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a:t>
            </a:r>
            <a:endPar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plural antecedent</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takes a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plural pronoun</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If Mike wants to win the race, they must perform well.</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If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Mike</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wants to win the race,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he</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must perform well.</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If one wants to get good marks, they must study well.</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If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one</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wants to get good marks,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he/she</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must study well</a:t>
            </a:r>
            <a:r>
              <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rPr>
              <a:t>.</a:t>
            </a:r>
            <a:endParaRPr lang="en-US" sz="2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r>
              <a:rPr lang="en-GB" sz="3600" dirty="0">
                <a:sym typeface="Arial" panose="020B0604020202020204"/>
              </a:rPr>
              <a:t> </a:t>
            </a:r>
            <a:endParaRPr sz="3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800"/>
              </a:spcBef>
              <a:spcAft>
                <a:spcPts val="800"/>
              </a:spcAft>
              <a:buClr>
                <a:srgbClr val="000000"/>
              </a:buClr>
              <a:buSzPts val="1800"/>
              <a:buFont typeface="Arial" panose="020B0604020202020204"/>
              <a:buNone/>
            </a:pPr>
            <a:endParaRPr sz="3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endParaRPr lang="en-GB" altLang="en-US"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290" y="593090"/>
            <a:ext cx="11360785" cy="5045710"/>
          </a:xfrm>
        </p:spPr>
        <p:txBody>
          <a:bodyPr>
            <a:normAutofit/>
          </a:bodyPr>
          <a:lstStyle/>
          <a:p>
            <a:pPr marL="0" marR="0" lvl="0" indent="0" rtl="0">
              <a:lnSpc>
                <a:spcPct val="100000"/>
              </a:lnSpc>
              <a:spcBef>
                <a:spcPts val="0"/>
              </a:spcBef>
              <a:spcAft>
                <a:spcPts val="0"/>
              </a:spcAft>
            </a:pP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Pronouns have to agree with their Antecedent in Gender</a:t>
            </a:r>
            <a:b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All Subject pronouns will always answer the question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Who</a:t>
            </a:r>
            <a:b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All Object pronouns will always answer the question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Whom</a:t>
            </a:r>
            <a:b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All Possessive pronouns will always answer the question </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Whose</a:t>
            </a:r>
            <a:b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Never interchange the pronouns in the way they are actually used</a:t>
            </a:r>
            <a:b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 subject pronoun must never take place of the Object or possessive pronoun and Object pronoun must never take place of subject and possessive pronoun…..</a:t>
            </a:r>
            <a:br>
              <a:rPr lang="en-US" sz="24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endParaRPr lang="en-GB"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593366"/>
            <a:ext cx="11360700" cy="4054047"/>
          </a:xfrm>
        </p:spPr>
        <p:txBody>
          <a:bodyPr>
            <a:normAutofit/>
          </a:bodyPr>
          <a:lstStyle/>
          <a:p>
            <a:pPr marL="0" marR="0" indent="0" algn="ctr" rtl="0" fontAlgn="b"/>
            <a:br>
              <a:rPr lang="en-US" sz="1800" b="0" i="0" u="none" strike="noStrike" dirty="0">
                <a:effectLst/>
                <a:latin typeface="Arial" panose="020B0604020202020204" pitchFamily="34" charset="0"/>
              </a:rPr>
            </a:br>
            <a:br>
              <a:rPr lang="en-US" sz="1800" b="0" i="0" u="none" strike="noStrike" dirty="0">
                <a:effectLst/>
                <a:latin typeface="Arial" panose="020B0604020202020204" pitchFamily="34" charset="0"/>
              </a:rPr>
            </a:br>
            <a:endParaRPr lang="en-US" sz="20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nvGraphicFramePr>
        <p:xfrm>
          <a:off x="2109470" y="1771226"/>
          <a:ext cx="8127999" cy="2773680"/>
        </p:xfrm>
        <a:graphic>
          <a:graphicData uri="http://schemas.openxmlformats.org/drawingml/2006/table">
            <a:tbl>
              <a:tblPr firstRow="1" bandRow="1">
                <a:tableStyleId>{5940675A-B579-460E-94D1-54222C63F5DA}</a:tableStyleId>
              </a:tblPr>
              <a:tblGrid>
                <a:gridCol w="2709333"/>
                <a:gridCol w="2709333"/>
                <a:gridCol w="2709333"/>
              </a:tblGrid>
              <a:tr h="370840">
                <a:tc>
                  <a:txBody>
                    <a:bodyPr/>
                    <a:lstStyle/>
                    <a:p>
                      <a:r>
                        <a:rPr lang="en-US" sz="2000" dirty="0">
                          <a:latin typeface="Times New Roman" panose="02020603050405020304" pitchFamily="18" charset="0"/>
                          <a:cs typeface="Times New Roman" panose="02020603050405020304" pitchFamily="18" charset="0"/>
                        </a:rPr>
                        <a:t>     SUBJECT</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OBJECT</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POSSESSIVE</a:t>
                      </a:r>
                      <a:endParaRPr lang="en-US" sz="2000"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a:latin typeface="Times New Roman" panose="02020603050405020304" pitchFamily="18" charset="0"/>
                          <a:cs typeface="Times New Roman" panose="02020603050405020304" pitchFamily="18" charset="0"/>
                        </a:rPr>
                        <a:t> It</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Me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Mine</a:t>
                      </a:r>
                      <a:endParaRPr lang="en-US" sz="2000"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a:latin typeface="Times New Roman" panose="02020603050405020304" pitchFamily="18" charset="0"/>
                          <a:cs typeface="Times New Roman" panose="02020603050405020304" pitchFamily="18" charset="0"/>
                        </a:rPr>
                        <a:t>You</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Your</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Yours</a:t>
                      </a:r>
                      <a:endParaRPr lang="en-US" sz="2000"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err="1">
                          <a:latin typeface="Times New Roman" panose="02020603050405020304" pitchFamily="18" charset="0"/>
                          <a:cs typeface="Times New Roman" panose="02020603050405020304" pitchFamily="18" charset="0"/>
                        </a:rPr>
                        <a:t>He/She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err="1">
                          <a:latin typeface="Times New Roman" panose="02020603050405020304" pitchFamily="18" charset="0"/>
                          <a:cs typeface="Times New Roman" panose="02020603050405020304" pitchFamily="18" charset="0"/>
                        </a:rPr>
                        <a:t>Him/Her</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His/hers</a:t>
                      </a:r>
                      <a:endParaRPr lang="en-US" sz="2000"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a:latin typeface="Times New Roman" panose="02020603050405020304" pitchFamily="18" charset="0"/>
                          <a:cs typeface="Times New Roman" panose="02020603050405020304" pitchFamily="18" charset="0"/>
                        </a:rPr>
                        <a:t>It</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It</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Its</a:t>
                      </a:r>
                      <a:endParaRPr lang="en-US" sz="2000"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a:latin typeface="Times New Roman" panose="02020603050405020304" pitchFamily="18" charset="0"/>
                          <a:cs typeface="Times New Roman" panose="02020603050405020304" pitchFamily="18" charset="0"/>
                        </a:rPr>
                        <a:t>We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Us</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Ours</a:t>
                      </a:r>
                      <a:endParaRPr lang="en-US" sz="2000"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a:latin typeface="Times New Roman" panose="02020603050405020304" pitchFamily="18" charset="0"/>
                          <a:cs typeface="Times New Roman" panose="02020603050405020304" pitchFamily="18" charset="0"/>
                        </a:rPr>
                        <a:t>They</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Them</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Theirs</a:t>
                      </a:r>
                      <a:endParaRPr lang="en-US" sz="20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lvl="0" algn="l" rtl="0">
              <a:lnSpc>
                <a:spcPct val="100000"/>
              </a:lnSpc>
              <a:spcBef>
                <a:spcPts val="0"/>
              </a:spcBef>
              <a:spcAft>
                <a:spcPts val="0"/>
              </a:spcAft>
              <a:buClr>
                <a:srgbClr val="000000"/>
              </a:buClr>
              <a:buSzPts val="1400"/>
            </a:pPr>
            <a:r>
              <a:rPr lang="en-US" sz="3200" dirty="0">
                <a:latin typeface="Times New Roman" panose="02020603050405020304" pitchFamily="18" charset="0"/>
                <a:cs typeface="Times New Roman" panose="02020603050405020304" pitchFamily="18" charset="0"/>
              </a:rPr>
              <a:t>Concept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Use plural pronouns to refer to the indefinite pronouns both, few, many, and several</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Examples: </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Both</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of the debaters persuasively presented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their</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arguments. </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Several</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of these coins are worth more than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their</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face values.</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When each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or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every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precedes two (or more) singular things joined by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and,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you have a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singular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antecedent</a:t>
            </a:r>
            <a:b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b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Every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new puppy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and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kitten destroys </a:t>
            </a:r>
            <a:r>
              <a:rPr lang="en-US" sz="27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its </a:t>
            </a:r>
            <a:r>
              <a:rPr lang="en-US" sz="27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owner’s sofa.</a:t>
            </a:r>
            <a:br>
              <a:rPr lang="en-US" sz="3200" b="1" i="0" u="none" strike="noStrike" cap="none" dirty="0">
                <a:solidFill>
                  <a:srgbClr val="000000"/>
                </a:solidFill>
                <a:latin typeface="Arial" panose="020B0604020202020204"/>
                <a:ea typeface="Arial" panose="020B0604020202020204"/>
                <a:cs typeface="Arial" panose="020B0604020202020204"/>
                <a:sym typeface="Arial" panose="020B0604020202020204"/>
              </a:rPr>
            </a:b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Concept</a:t>
            </a:r>
            <a:endParaRPr lang="en-US" sz="28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These </a:t>
            </a:r>
            <a:r>
              <a:rPr lang="en-US"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indefinite pronouns </a:t>
            </a: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are always </a:t>
            </a:r>
            <a:r>
              <a:rPr lang="en-US"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singular</a:t>
            </a: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(even when they </a:t>
            </a:r>
            <a:r>
              <a:rPr lang="en-US"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seem </a:t>
            </a: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plural).</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285750" marR="0" lvl="0" indent="-285750" algn="l" rtl="0">
              <a:lnSpc>
                <a:spcPct val="100000"/>
              </a:lnSpc>
              <a:spcBef>
                <a:spcPts val="0"/>
              </a:spcBef>
              <a:spcAft>
                <a:spcPts val="0"/>
              </a:spcAft>
              <a:buClr>
                <a:srgbClr val="000000"/>
              </a:buClr>
              <a:buSzPts val="1400"/>
              <a:buFont typeface="Arial" panose="020B0604020202020204"/>
              <a:buChar char="•"/>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Each, either, neither</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285750" marR="0" lvl="0" indent="-285750" algn="l" rtl="0">
              <a:lnSpc>
                <a:spcPct val="100000"/>
              </a:lnSpc>
              <a:spcBef>
                <a:spcPts val="0"/>
              </a:spcBef>
              <a:spcAft>
                <a:spcPts val="0"/>
              </a:spcAft>
              <a:buClr>
                <a:srgbClr val="000000"/>
              </a:buClr>
              <a:buSzPts val="1400"/>
              <a:buFont typeface="Arial" panose="020B0604020202020204"/>
              <a:buChar char="•"/>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Anyone, anybody, anything</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285750" marR="0" lvl="0" indent="-285750" algn="l" rtl="0">
              <a:lnSpc>
                <a:spcPct val="100000"/>
              </a:lnSpc>
              <a:spcBef>
                <a:spcPts val="0"/>
              </a:spcBef>
              <a:spcAft>
                <a:spcPts val="0"/>
              </a:spcAft>
              <a:buClr>
                <a:srgbClr val="000000"/>
              </a:buClr>
              <a:buSzPts val="1400"/>
              <a:buFont typeface="Arial" panose="020B0604020202020204"/>
              <a:buChar char="•"/>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Everyone, everybody, everything</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285750" marR="0" lvl="0" indent="-285750" algn="l" rtl="0">
              <a:lnSpc>
                <a:spcPct val="100000"/>
              </a:lnSpc>
              <a:spcBef>
                <a:spcPts val="0"/>
              </a:spcBef>
              <a:spcAft>
                <a:spcPts val="0"/>
              </a:spcAft>
              <a:buClr>
                <a:srgbClr val="000000"/>
              </a:buClr>
              <a:buSzPts val="1400"/>
              <a:buFont typeface="Arial" panose="020B0604020202020204"/>
              <a:buChar char="•"/>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No one, nobody, nothing</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285750" marR="0" lvl="0" indent="-285750" algn="l" rtl="0">
              <a:lnSpc>
                <a:spcPct val="100000"/>
              </a:lnSpc>
              <a:spcBef>
                <a:spcPts val="0"/>
              </a:spcBef>
              <a:spcAft>
                <a:spcPts val="0"/>
              </a:spcAft>
              <a:buClr>
                <a:srgbClr val="000000"/>
              </a:buClr>
              <a:buSzPts val="1400"/>
              <a:buFont typeface="Arial" panose="020B0604020202020204"/>
              <a:buChar char="•"/>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Someone, somebody, something</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Question:01</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Fill in the blanks with the appropriate pronouns.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Raja would have told ___ mother that ___ sweater had a hole.</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457200" algn="l" rtl="0">
              <a:lnSpc>
                <a:spcPct val="90000"/>
              </a:lnSpc>
              <a:spcBef>
                <a:spcPts val="0"/>
              </a:spcBef>
              <a:spcAft>
                <a:spcPts val="0"/>
              </a:spcAft>
              <a:buClr>
                <a:schemeClr val="dk1"/>
              </a:buClr>
              <a:buSzPts val="1100"/>
              <a:buFont typeface="Arial" panose="020B0604020202020204"/>
              <a:buNone/>
            </a:pP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its, its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B.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his, his</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C.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her, 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D.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their, their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Here, blanks should have pronoun that should refer to ’Raja’. The only pronoun which is suitable for ’Raja’ is ’his</a:t>
            </a: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Question:02</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During early rehearsals, an actor may forget ___ lines.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 his/her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B.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their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Actor refers to the pronoun</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Since actor is singular we use singular pronoun</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So the answer is his/her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Question:03</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Neither </a:t>
            </a:r>
            <a:r>
              <a:rPr lang="en-US" sz="2400" b="0" i="0" u="none" strike="noStrike" cap="none" dirty="0" err="1">
                <a:solidFill>
                  <a:srgbClr val="000000"/>
                </a:solidFill>
                <a:latin typeface="Times New Roman" panose="02020603050405020304" pitchFamily="18" charset="0"/>
                <a:ea typeface="Nunito Sans"/>
                <a:cs typeface="Times New Roman" panose="02020603050405020304" pitchFamily="18" charset="0"/>
                <a:sym typeface="Nunito Sans"/>
              </a:rPr>
              <a:t>Vishu</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 nor Shweta can submit ___ assignments today.</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None/>
            </a:pPr>
            <a:r>
              <a:rPr lang="en-US" sz="2400" b="0" i="0" u="none" strike="noStrike" cap="none" dirty="0" err="1">
                <a:solidFill>
                  <a:srgbClr val="000000"/>
                </a:solidFill>
                <a:highlight>
                  <a:srgbClr val="FDFDFD"/>
                </a:highlight>
                <a:latin typeface="Times New Roman" panose="02020603050405020304" pitchFamily="18" charset="0"/>
                <a:ea typeface="Nunito Sans"/>
                <a:cs typeface="Times New Roman" panose="02020603050405020304" pitchFamily="18" charset="0"/>
                <a:sym typeface="Nunito Sans"/>
              </a:rPr>
              <a:t>A.H</a:t>
            </a:r>
            <a:r>
              <a:rPr lang="en-US" sz="2400" b="0" i="0" u="none" strike="noStrike" cap="none" dirty="0" err="1">
                <a:solidFill>
                  <a:srgbClr val="000000"/>
                </a:solidFill>
                <a:latin typeface="Times New Roman" panose="02020603050405020304" pitchFamily="18" charset="0"/>
                <a:ea typeface="Nunito Sans"/>
                <a:cs typeface="Times New Roman" panose="02020603050405020304" pitchFamily="18" charset="0"/>
                <a:sym typeface="Nunito Sans"/>
              </a:rPr>
              <a:t>er</a:t>
            </a:r>
            <a:endParaRPr lang="en-US" b="1" dirty="0">
              <a:solidFill>
                <a:srgbClr val="000000"/>
              </a:solidFill>
              <a:latin typeface="Times New Roman" panose="02020603050405020304" pitchFamily="18" charset="0"/>
              <a:ea typeface="Nunito Sans"/>
              <a:cs typeface="Times New Roman" panose="02020603050405020304" pitchFamily="18" charset="0"/>
              <a:sym typeface="Nunito Sans"/>
            </a:endParaRPr>
          </a:p>
          <a:p>
            <a:pPr marL="0" marR="0" lvl="0" indent="0" algn="l" rtl="0">
              <a:lnSpc>
                <a:spcPct val="150000"/>
              </a:lnSpc>
              <a:spcBef>
                <a:spcPts val="0"/>
              </a:spcBef>
              <a:spcAft>
                <a:spcPts val="0"/>
              </a:spcAft>
              <a:buClr>
                <a:srgbClr val="000000"/>
              </a:buClr>
              <a:buSzPts val="1400"/>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B. </a:t>
            </a:r>
            <a:r>
              <a:rPr lang="en-US" sz="2400" b="0" i="0" u="none" strike="noStrike" cap="none" dirty="0">
                <a:solidFill>
                  <a:srgbClr val="000000"/>
                </a:solidFill>
                <a:highlight>
                  <a:srgbClr val="FDFDFD"/>
                </a:highlight>
                <a:latin typeface="Times New Roman" panose="02020603050405020304" pitchFamily="18" charset="0"/>
                <a:ea typeface="Nunito Sans"/>
                <a:cs typeface="Times New Roman" panose="02020603050405020304" pitchFamily="18" charset="0"/>
                <a:sym typeface="Nunito Sans"/>
              </a:rPr>
              <a:t>H</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is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C. Their</a:t>
            </a: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D. Its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When two nouns joined by ’neither - nor’, pronoun agrees with antecedent closer to the pronoun.</a:t>
            </a:r>
            <a:b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Here, Shweta is the antecedent closer to pronoun and Shweta is singular, so ’her’ will be used.</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Question:04</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Everybody will receive ___ salary through cheque.</a:t>
            </a:r>
            <a:endParaRPr lang="en-US" dirty="0">
              <a:solidFill>
                <a:srgbClr val="000000"/>
              </a:solidFill>
              <a:latin typeface="Times New Roman" panose="02020603050405020304" pitchFamily="18" charset="0"/>
              <a:ea typeface="Nunito Sans"/>
              <a:cs typeface="Times New Roman" panose="02020603050405020304" pitchFamily="18" charset="0"/>
            </a:endParaRPr>
          </a:p>
          <a:p>
            <a:pPr marL="0" marR="0" lvl="0" indent="0" algn="l" rtl="0">
              <a:lnSpc>
                <a:spcPct val="100000"/>
              </a:lnSpc>
              <a:spcBef>
                <a:spcPts val="0"/>
              </a:spcBef>
              <a:spcAft>
                <a:spcPts val="0"/>
              </a:spcAft>
              <a:buClr>
                <a:srgbClr val="000000"/>
              </a:buClr>
              <a:buSzPts val="1400"/>
              <a:buNone/>
            </a:pPr>
            <a:endParaRPr lang="en-US" dirty="0">
              <a:solidFill>
                <a:srgbClr val="000000"/>
              </a:solidFill>
              <a:highlight>
                <a:srgbClr val="FDFDFD"/>
              </a:highlight>
              <a:latin typeface="Times New Roman" panose="02020603050405020304" pitchFamily="18" charset="0"/>
              <a:ea typeface="Nunito Sans"/>
              <a:cs typeface="Times New Roman" panose="02020603050405020304" pitchFamily="18" charset="0"/>
            </a:endParaRPr>
          </a:p>
          <a:p>
            <a:pPr marL="0" marR="0" lvl="0" indent="0" algn="l" rtl="0">
              <a:lnSpc>
                <a:spcPct val="100000"/>
              </a:lnSpc>
              <a:spcBef>
                <a:spcPts val="0"/>
              </a:spcBef>
              <a:spcAft>
                <a:spcPts val="0"/>
              </a:spcAft>
              <a:buClr>
                <a:srgbClr val="000000"/>
              </a:buClr>
              <a:buSzPts val="1400"/>
              <a:buNone/>
            </a:pPr>
            <a:r>
              <a:rPr lang="en-US" sz="2400" b="0" i="0" u="none" strike="noStrike" cap="none" dirty="0" err="1">
                <a:solidFill>
                  <a:srgbClr val="000000"/>
                </a:solidFill>
                <a:highlight>
                  <a:srgbClr val="FDFDFD"/>
                </a:highlight>
                <a:latin typeface="Times New Roman" panose="02020603050405020304" pitchFamily="18" charset="0"/>
                <a:ea typeface="Nunito Sans"/>
                <a:cs typeface="Times New Roman" panose="02020603050405020304" pitchFamily="18" charset="0"/>
                <a:sym typeface="Nunito Sans"/>
              </a:rPr>
              <a:t>A.</a:t>
            </a:r>
            <a:r>
              <a:rPr lang="en-US" sz="2400" b="0" i="0" u="none" strike="noStrike" cap="none" dirty="0" err="1">
                <a:solidFill>
                  <a:srgbClr val="000000"/>
                </a:solidFill>
                <a:latin typeface="Times New Roman" panose="02020603050405020304" pitchFamily="18" charset="0"/>
                <a:ea typeface="Nunito Sans"/>
                <a:cs typeface="Times New Roman" panose="02020603050405020304" pitchFamily="18" charset="0"/>
                <a:sym typeface="Nunito Sans"/>
              </a:rPr>
              <a:t>his</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/her</a:t>
            </a:r>
            <a:endParaRPr lang="en-US" dirty="0">
              <a:solidFill>
                <a:srgbClr val="000000"/>
              </a:solidFill>
              <a:latin typeface="Times New Roman" panose="02020603050405020304" pitchFamily="18" charset="0"/>
              <a:ea typeface="Nunito Sans"/>
              <a:cs typeface="Times New Roman" panose="02020603050405020304" pitchFamily="18" charset="0"/>
            </a:endParaRPr>
          </a:p>
          <a:p>
            <a:pPr marL="0" marR="0" lvl="0" indent="0" algn="l" rtl="0">
              <a:lnSpc>
                <a:spcPct val="100000"/>
              </a:lnSpc>
              <a:spcBef>
                <a:spcPts val="0"/>
              </a:spcBef>
              <a:spcAft>
                <a:spcPts val="0"/>
              </a:spcAft>
              <a:buClr>
                <a:srgbClr val="000000"/>
              </a:buClr>
              <a:buSzPts val="1400"/>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B. Their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Everybody is singular, so singular pronoun will be used.</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So the answer can be ’his or 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Question:05</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4572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Each of the boys refused help saying that _________ would proofread the report on ________ own. </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45720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4572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A. </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He, his</a:t>
            </a: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457200" marR="0" lvl="0" indent="0" algn="l" rtl="0">
              <a:lnSpc>
                <a:spcPct val="100000"/>
              </a:lnSpc>
              <a:spcBef>
                <a:spcPts val="8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B. </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They, their</a:t>
            </a: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457200" marR="0" lvl="0" indent="0" algn="l" rtl="0">
              <a:lnSpc>
                <a:spcPct val="100000"/>
              </a:lnSpc>
              <a:spcBef>
                <a:spcPts val="8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C. </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They, their</a:t>
            </a:r>
            <a:endPar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endParaRPr>
          </a:p>
          <a:p>
            <a:pPr marL="457200" marR="0" lvl="0" indent="0" algn="l" rtl="0">
              <a:lnSpc>
                <a:spcPct val="100000"/>
              </a:lnSpc>
              <a:spcBef>
                <a:spcPts val="8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DFDFD"/>
                </a:highlight>
                <a:latin typeface="Times New Roman" panose="02020603050405020304" pitchFamily="18" charset="0"/>
                <a:cs typeface="Times New Roman" panose="02020603050405020304" pitchFamily="18" charset="0"/>
                <a:sym typeface="Arial" panose="020B0604020202020204"/>
              </a:rPr>
              <a:t>D. </a:t>
            </a:r>
            <a:r>
              <a:rPr lang="en-US" sz="2400" b="0" i="0" u="none" strike="noStrike" cap="none" dirty="0" err="1">
                <a:solidFill>
                  <a:srgbClr val="000000"/>
                </a:solidFill>
                <a:latin typeface="Times New Roman" panose="02020603050405020304" pitchFamily="18" charset="0"/>
                <a:cs typeface="Times New Roman" panose="02020603050405020304" pitchFamily="18" charset="0"/>
                <a:sym typeface="Arial" panose="020B0604020202020204"/>
              </a:rPr>
              <a:t>She,her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Each is singular, so singular pronoun will be used.</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So the answer can be ’he and his’.</a:t>
            </a:r>
            <a:endPar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Question:06</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Neither Dennis nor Martin should forget to include personal stories about ________ subject.</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Their</a:t>
            </a: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 </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chemeClr val="dk1"/>
              </a:buClr>
              <a:buSzPts val="11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His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chemeClr val="dk1"/>
              </a:buClr>
              <a:buSzPts val="11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C. Her</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1500"/>
              </a:spcAft>
              <a:buClr>
                <a:schemeClr val="dk1"/>
              </a:buClr>
              <a:buSzPts val="11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D. They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Neither, nor is used with singular subjects. So singular pronoun will be used.</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So the answer can be “his”.</a:t>
            </a:r>
            <a:endPar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Question:07</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All the jewels have lost ___ glow.</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chemeClr val="dk1"/>
              </a:buClr>
              <a:buSzPts val="11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Its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chemeClr val="dk1"/>
              </a:buClr>
              <a:buSzPts val="11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Their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lang="en-US" sz="24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If antecedent is plural, pronoun is also plural.</a:t>
            </a:r>
            <a:b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’Its’ is used for singular and ’their’ is used for plural. So, the pronoun used will be ’their’.</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Question:08</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A number of volunteers offered ___ help.</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Their</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Its</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C. His</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150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D. Her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"A number of" is always plural.</a:t>
            </a:r>
            <a:b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The only plural pronoun we are having in given options is "their".</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Question:09</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Everybody is requested to carry ___ belongings.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Her or His</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Their</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Everybody’ is always used as singular.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’Their’ is used with plural.</a:t>
            </a:r>
            <a:b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So, answer will be "her or his".</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Question:10</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A teacher should encourage writing in ___ classes.</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b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Their</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a:t>
            </a:r>
            <a:r>
              <a:rPr lang="en-US" sz="2400" b="0" i="0" u="none" strike="noStrike" cap="none" dirty="0" err="1">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His/Her</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"Teacher" is singular (noun). So, we cannot use ’their’, but will be using "his/her".</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Question:11</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 When a student writes, ___ must examine ___ thoughts and feelings on a topic.</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he/she, his/her </a:t>
            </a:r>
            <a:endPar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a:t>
            </a:r>
            <a:r>
              <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rPr>
              <a:t>they/their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"Student" is singular.</a:t>
            </a:r>
            <a:b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He/she and his/her will be answer.</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Question:12</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 Washington team was opportunistic, ____  took advantage of every break .</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it</a:t>
            </a:r>
            <a:endPar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they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631596"/>
            <a:ext cx="11360700" cy="898071"/>
          </a:xfrm>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Pronoun refers to the word  Team</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“Team" is singular.</a:t>
            </a:r>
            <a:endParaRPr lang="en-US" dirty="0">
              <a:solidFill>
                <a:schemeClr val="dk1"/>
              </a:solidFill>
              <a:latin typeface="Times New Roman" panose="02020603050405020304" pitchFamily="18" charset="0"/>
              <a:cs typeface="Times New Roman" panose="02020603050405020304" pitchFamily="18" charset="0"/>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‘It’ will be the answer.</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76200" indent="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Question:13</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Some of the </a:t>
            </a:r>
            <a:r>
              <a:rPr lang="en-US" sz="2400" b="0" i="0" u="none" strike="noStrike" cap="none" dirty="0" err="1">
                <a:solidFill>
                  <a:srgbClr val="000000"/>
                </a:solidFill>
                <a:latin typeface="Times New Roman" panose="02020603050405020304" pitchFamily="18" charset="0"/>
                <a:cs typeface="Times New Roman" panose="02020603050405020304" pitchFamily="18" charset="0"/>
                <a:sym typeface="Arial" panose="020B0604020202020204"/>
              </a:rPr>
              <a:t>china</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has lost ____  luster.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its</a:t>
            </a:r>
            <a:endParaRPr lang="en-US" sz="2400" b="0" i="0" u="none" strike="noStrike" cap="none" dirty="0">
              <a:solidFill>
                <a:srgbClr val="000000"/>
              </a:solidFill>
              <a:latin typeface="Times New Roman" panose="02020603050405020304" pitchFamily="18" charset="0"/>
              <a:ea typeface="Nunito Sans"/>
              <a:cs typeface="Times New Roman" panose="02020603050405020304" pitchFamily="18" charset="0"/>
              <a:sym typeface="Nunito Sans"/>
            </a:endParaRPr>
          </a:p>
          <a:p>
            <a:pPr marL="0" marR="0" lvl="0" indent="0" algn="l" rtl="0">
              <a:lnSpc>
                <a:spcPct val="150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their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Pronoun refers to the word  China.</a:t>
            </a:r>
            <a:endParaRPr lang="en-US"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r>
              <a:rPr lang="en-US" b="0" i="0" u="none" strike="noStrike" cap="none" dirty="0">
                <a:solidFill>
                  <a:schemeClr val="dk1"/>
                </a:solidFill>
                <a:highlight>
                  <a:srgbClr val="FFFFFF"/>
                </a:highlight>
                <a:latin typeface="Times New Roman" panose="02020603050405020304" pitchFamily="18" charset="0"/>
                <a:ea typeface="Open Sans"/>
                <a:cs typeface="Times New Roman" panose="02020603050405020304" pitchFamily="18" charset="0"/>
                <a:sym typeface="Open Sans"/>
              </a:rPr>
              <a:t>    </a:t>
            </a:r>
            <a:r>
              <a:rPr lang="en-US" b="0" i="0" u="none" strike="noStrike" cap="none" dirty="0">
                <a:solidFill>
                  <a:schemeClr val="dk1"/>
                </a:solidFill>
                <a:highlight>
                  <a:srgbClr val="FFFFFF"/>
                </a:highlight>
                <a:latin typeface="Times New Roman" panose="02020603050405020304" pitchFamily="18" charset="0"/>
                <a:cs typeface="Times New Roman" panose="02020603050405020304" pitchFamily="18" charset="0"/>
                <a:sym typeface="Arial" panose="020B0604020202020204"/>
              </a:rPr>
              <a:t>Cups, bowls, plates, and ornaments made of </a:t>
            </a:r>
            <a:r>
              <a:rPr lang="en-US" b="0" i="0" u="none" strike="noStrike" cap="none" dirty="0" err="1">
                <a:solidFill>
                  <a:schemeClr val="dk1"/>
                </a:solidFill>
                <a:highlight>
                  <a:srgbClr val="FFFFFF"/>
                </a:highlight>
                <a:latin typeface="Times New Roman" panose="02020603050405020304" pitchFamily="18" charset="0"/>
                <a:cs typeface="Times New Roman" panose="02020603050405020304" pitchFamily="18" charset="0"/>
                <a:sym typeface="Arial" panose="020B0604020202020204"/>
              </a:rPr>
              <a:t>china</a:t>
            </a:r>
            <a:r>
              <a:rPr lang="en-US" b="0" i="0" u="none" strike="noStrike" cap="none" dirty="0">
                <a:solidFill>
                  <a:schemeClr val="dk1"/>
                </a:solidFill>
                <a:highlight>
                  <a:srgbClr val="FFFFFF"/>
                </a:highlight>
                <a:latin typeface="Times New Roman" panose="02020603050405020304" pitchFamily="18" charset="0"/>
                <a:cs typeface="Times New Roman" panose="02020603050405020304" pitchFamily="18" charset="0"/>
                <a:sym typeface="Arial" panose="020B0604020202020204"/>
              </a:rPr>
              <a:t> are referred to as </a:t>
            </a:r>
            <a:r>
              <a:rPr lang="en-US" b="1" i="0" u="none" strike="noStrike" cap="none" dirty="0" err="1">
                <a:solidFill>
                  <a:schemeClr val="dk1"/>
                </a:solidFill>
                <a:highlight>
                  <a:srgbClr val="FFFFFF"/>
                </a:highlight>
                <a:latin typeface="Times New Roman" panose="02020603050405020304" pitchFamily="18" charset="0"/>
                <a:cs typeface="Times New Roman" panose="02020603050405020304" pitchFamily="18" charset="0"/>
                <a:sym typeface="Arial" panose="020B0604020202020204"/>
              </a:rPr>
              <a:t>china</a:t>
            </a:r>
            <a:r>
              <a:rPr lang="en-US" b="0" i="0" u="none" strike="noStrike" cap="none" dirty="0">
                <a:solidFill>
                  <a:schemeClr val="dk1"/>
                </a:solidFill>
                <a:highlight>
                  <a:srgbClr val="FFFFFF"/>
                </a:highlight>
                <a:latin typeface="Times New Roman" panose="02020603050405020304" pitchFamily="18" charset="0"/>
                <a:cs typeface="Times New Roman" panose="02020603050405020304" pitchFamily="18" charset="0"/>
                <a:sym typeface="Arial" panose="020B0604020202020204"/>
              </a:rPr>
              <a:t>. It is a collective noun.</a:t>
            </a:r>
            <a:endParaRPr lang="en-US"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So “China” is singular.</a:t>
            </a:r>
            <a:br>
              <a:rPr lang="en-US"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br>
            <a:r>
              <a:rPr lang="en-US"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Its will be the answer</a:t>
            </a:r>
            <a:r>
              <a:rPr lang="en-US" sz="2400" b="0" i="0" u="none" strike="noStrike" cap="none" dirty="0">
                <a:solidFill>
                  <a:schemeClr val="dk1"/>
                </a:solidFill>
                <a:latin typeface="Arial" panose="020B0604020202020204"/>
                <a:ea typeface="Arial" panose="020B0604020202020204"/>
                <a:cs typeface="Arial" panose="020B0604020202020204"/>
                <a:sym typeface="Arial" panose="020B0604020202020204"/>
              </a:rPr>
              <a:t>.</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Question:14</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Is everyone pleased with ____ assignment?</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his/her</a:t>
            </a: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a:t>
            </a:r>
            <a:r>
              <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 </a:t>
            </a: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their</a:t>
            </a:r>
            <a:endPar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C.</a:t>
            </a:r>
            <a:r>
              <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 </a:t>
            </a: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its</a:t>
            </a:r>
            <a:endPar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150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D. None of the above</a:t>
            </a:r>
            <a:endPar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Everyone is singular, so singular pronoun will be used.</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 So the answer is ’his or 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Question:15</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0" marR="0" lvl="0" indent="0" algn="l" rtl="0">
              <a:lnSpc>
                <a:spcPct val="115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Not only my brothers but also Mom loves to drench </a:t>
            </a:r>
            <a:r>
              <a:rPr lang="en-US" sz="2400" b="0" i="0" u="sng"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their</a:t>
            </a:r>
            <a:r>
              <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 omelets in ketchup.</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endPar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A. his</a:t>
            </a:r>
            <a:endPar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B. 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C. His and her</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15000"/>
              </a:lnSpc>
              <a:spcBef>
                <a:spcPts val="1500"/>
              </a:spcBef>
              <a:spcAft>
                <a:spcPts val="1500"/>
              </a:spcAft>
              <a:buClr>
                <a:srgbClr val="000000"/>
              </a:buClr>
              <a:buSzPts val="1400"/>
              <a:buFont typeface="Arial" panose="020B0604020202020204"/>
              <a:buNone/>
            </a:pPr>
            <a:r>
              <a:rPr lang="en-US" sz="2400" b="0"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rPr>
              <a:t>D. No change is necessary</a:t>
            </a:r>
            <a:endParaRPr lang="en-US" sz="2400" b="1" i="0" u="none" strike="noStrike" cap="none" dirty="0">
              <a:solidFill>
                <a:srgbClr val="000000"/>
              </a:solidFill>
              <a:highlight>
                <a:srgbClr val="FFFFFF"/>
              </a:highlight>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Explanation</a:t>
            </a:r>
            <a:endParaRPr lang="en-US"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The pronoun refers to Mom as ‘Mom’ is the subject closest to the verb.</a:t>
            </a:r>
            <a:endParaRPr lang="en-US" sz="24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p>
            <a:pPr marL="114300" marR="0" lvl="0" indent="0" algn="l" rtl="0">
              <a:lnSpc>
                <a:spcPct val="100000"/>
              </a:lnSpc>
              <a:spcBef>
                <a:spcPts val="0"/>
              </a:spcBef>
              <a:spcAft>
                <a:spcPts val="0"/>
              </a:spcAft>
              <a:buClr>
                <a:srgbClr val="000000"/>
              </a:buClr>
              <a:buSzPts val="1400"/>
              <a:buFont typeface="Arial" panose="020B0604020202020204"/>
              <a:buNone/>
            </a:pPr>
            <a:r>
              <a:rPr lang="en-US" sz="2400" b="0"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“Mom" is singular (noun). So, we use ’her’.</a:t>
            </a:r>
            <a:endParaRPr lang="en-US" sz="24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endParaRP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224e5d5c537_0_0"/>
          <p:cNvSpPr txBox="1"/>
          <p:nvPr/>
        </p:nvSpPr>
        <p:spPr>
          <a:xfrm>
            <a:off x="3367315" y="2614680"/>
            <a:ext cx="4493008" cy="814500"/>
          </a:xfrm>
          <a:prstGeom prst="rect">
            <a:avLst/>
          </a:prstGeom>
          <a:noFill/>
          <a:ln>
            <a:noFill/>
          </a:ln>
        </p:spPr>
        <p:txBody>
          <a:bodyPr spcFirstLastPara="1" wrap="square" lIns="0" tIns="0" rIns="0" bIns="0" anchor="t" anchorCtr="0">
            <a:spAutoFit/>
          </a:bodyPr>
          <a:lstStyle/>
          <a:p>
            <a:pPr marL="0" marR="0" lvl="0" indent="0" algn="l" rtl="0">
              <a:lnSpc>
                <a:spcPct val="83000"/>
              </a:lnSpc>
              <a:spcBef>
                <a:spcPts val="0"/>
              </a:spcBef>
              <a:spcAft>
                <a:spcPts val="0"/>
              </a:spcAft>
              <a:buClr>
                <a:srgbClr val="000000"/>
              </a:buClr>
              <a:buSzPts val="6400"/>
              <a:buFont typeface="Arial" panose="020B0604020202020204"/>
              <a:buNone/>
            </a:pPr>
            <a:r>
              <a:rPr lang="en-US" sz="64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Thank You</a:t>
            </a:r>
            <a:endParaRPr sz="6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89" name="Google Shape;289;g224e5d5c537_0_0"/>
          <p:cNvPicPr preferRelativeResize="0"/>
          <p:nvPr/>
        </p:nvPicPr>
        <p:blipFill rotWithShape="1">
          <a:blip r:embed="rId1"/>
          <a:srcRect/>
          <a:stretch>
            <a:fillRect/>
          </a:stretch>
        </p:blipFill>
        <p:spPr>
          <a:xfrm>
            <a:off x="-1" y="5078"/>
            <a:ext cx="1326767" cy="591269"/>
          </a:xfrm>
          <a:prstGeom prst="rect">
            <a:avLst/>
          </a:prstGeom>
          <a:noFill/>
          <a:ln>
            <a:noFill/>
          </a:ln>
        </p:spPr>
      </p:pic>
      <p:pic>
        <p:nvPicPr>
          <p:cNvPr id="290" name="Google Shape;290;g224e5d5c537_0_0"/>
          <p:cNvPicPr preferRelativeResize="0"/>
          <p:nvPr/>
        </p:nvPicPr>
        <p:blipFill rotWithShape="1">
          <a:blip r:embed="rId2"/>
          <a:srcRect/>
          <a:stretch>
            <a:fillRect/>
          </a:stretch>
        </p:blipFill>
        <p:spPr>
          <a:xfrm>
            <a:off x="0" y="6227384"/>
            <a:ext cx="1331109" cy="6306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5831</Words>
  <Application>WPS Presentation</Application>
  <PresentationFormat>Widescreen</PresentationFormat>
  <Paragraphs>300</Paragraphs>
  <Slides>41</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41</vt:i4>
      </vt:variant>
    </vt:vector>
  </HeadingPairs>
  <TitlesOfParts>
    <vt:vector size="56" baseType="lpstr">
      <vt:lpstr>Arial</vt:lpstr>
      <vt:lpstr>SimSun</vt:lpstr>
      <vt:lpstr>Wingdings</vt:lpstr>
      <vt:lpstr>Arial</vt:lpstr>
      <vt:lpstr>Calibri</vt:lpstr>
      <vt:lpstr>Arial Black</vt:lpstr>
      <vt:lpstr>Times New Roman</vt:lpstr>
      <vt:lpstr>Nunito Sans</vt:lpstr>
      <vt:lpstr>Segoe Print</vt:lpstr>
      <vt:lpstr>Microsoft YaHei</vt:lpstr>
      <vt:lpstr>Arial Unicode MS</vt:lpstr>
      <vt:lpstr>Open Sans</vt:lpstr>
      <vt:lpstr>Times New Roman</vt:lpstr>
      <vt:lpstr>Wingdings</vt:lpstr>
      <vt:lpstr>Simple Light</vt:lpstr>
      <vt:lpstr>                       PRONOUN ANTECEDENT AGREEMENT </vt:lpstr>
      <vt:lpstr> Concept  My wife and me went to the shopping mall. My wife and I went to the shopping mall.   That gift was bought by my wife and I. That gift was bought by my wife and me.  </vt:lpstr>
      <vt:lpstr> Concept  My wife and me went to the shopping mall. My wife and I went to the shopping mall.   That gift was bought by my wife and I. That gift was bought by my wife and me.  </vt:lpstr>
      <vt:lpstr>Concept  What is a pronoun? A pronoun is a word that replaces a noun.  What is an Antecedent?  An antecedent is a noun which the pronoun refers to or a corresponding noun to the pronoun.  Diwas threw his iPad on the floor.   “his”(pronoun) refers to “Diwas”(Antecedent) </vt:lpstr>
      <vt:lpstr>PowerPoint 演示文稿</vt:lpstr>
      <vt:lpstr>PowerPoint 演示文稿</vt:lpstr>
      <vt:lpstr>Pronouns have to agree with their Antecedent in Gender  All Subject pronouns will always answer the question Who All Object pronouns will always answer the question Whom All Possessive pronouns will always answer the question Whose  Never interchange the pronouns in the way they are actually used A subject pronoun must never take place of the Object or possessive pronoun and Object pronoun must never take place of subject and possessive pronoun….. </vt:lpstr>
      <vt:lpstr>  </vt:lpstr>
      <vt:lpstr>Concept   Use plural pronouns to refer to the indefinite pronouns both, few, many, and several  Examples:   Both of the debaters persuasively presented their arguments.  Several of these coins are worth more than their face values.         When each or every precedes two (or more) singular things joined by and, you have a singular antecedent  Every new puppy and kitten destroys its owner’s sofa. </vt:lpstr>
      <vt:lpstr>Concept</vt:lpstr>
      <vt:lpstr>Question:01</vt:lpstr>
      <vt:lpstr>Explanation</vt:lpstr>
      <vt:lpstr>Question:02</vt:lpstr>
      <vt:lpstr>Explanation</vt:lpstr>
      <vt:lpstr>Question:03</vt:lpstr>
      <vt:lpstr>Explanation</vt:lpstr>
      <vt:lpstr>Question:04</vt:lpstr>
      <vt:lpstr>Explanation</vt:lpstr>
      <vt:lpstr>Question:05</vt:lpstr>
      <vt:lpstr>Explanation</vt:lpstr>
      <vt:lpstr>Question:06</vt:lpstr>
      <vt:lpstr>Explanation</vt:lpstr>
      <vt:lpstr>Question:07</vt:lpstr>
      <vt:lpstr>Explanation</vt:lpstr>
      <vt:lpstr>Question:08</vt:lpstr>
      <vt:lpstr>Explanation</vt:lpstr>
      <vt:lpstr>Question:09</vt:lpstr>
      <vt:lpstr>Explanation</vt:lpstr>
      <vt:lpstr>Question:10</vt:lpstr>
      <vt:lpstr>Explanation</vt:lpstr>
      <vt:lpstr>Question:11</vt:lpstr>
      <vt:lpstr>Explanation</vt:lpstr>
      <vt:lpstr>Question:12</vt:lpstr>
      <vt:lpstr>Explanation</vt:lpstr>
      <vt:lpstr>Question:13</vt:lpstr>
      <vt:lpstr>Explanation</vt:lpstr>
      <vt:lpstr>Question:14</vt:lpstr>
      <vt:lpstr>Explanation</vt:lpstr>
      <vt:lpstr>Question:15</vt:lpstr>
      <vt:lpstr>Explanation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Dressing Etiquette</dc:title>
  <dc:creator>Janakiraman Selvaraj</dc:creator>
  <cp:lastModifiedBy>Yamini</cp:lastModifiedBy>
  <cp:revision>141</cp:revision>
  <dcterms:created xsi:type="dcterms:W3CDTF">2022-11-15T12:41:00Z</dcterms:created>
  <dcterms:modified xsi:type="dcterms:W3CDTF">2025-09-25T18:16:33Z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D8F49B3BC4BF455E9C9BB8B322DEB75A_13</vt:lpwstr>
  </property>
  <property fmtid="{D5CDD505-2E9C-101B-9397-08002B2CF9AE}" pid="3" name="KSOProductBuildVer">
    <vt:lpwstr>2057-12.2.0.22549</vt:lpwstr>
  </property>
</Properties>
</file>